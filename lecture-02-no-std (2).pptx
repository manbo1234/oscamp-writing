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200000"/>
            <a:ext cx="100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no_std 与操作系统 Syscall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500000"/>
            <a:ext cx="10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6C9EFF"/>
                </a:solidFill>
                <a:latin typeface="Microsoft YaHei"/>
              </a:defRPr>
            </a:pPr>
            <a:r>
              <a:t>OS Camp 2026 春夏 · 基础阶段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55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对应模块: 02_no_std_dev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1100000"/>
            <a:ext cx="8000" cy="35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1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  <a:latin typeface="Microsoft YaHei"/>
              </a:defRPr>
            </a:pPr>
            <a:r>
              <a:t>01   开场 — 你的 Hello World 背后发生了什么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800000"/>
            <a:ext cx="8000" cy="35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18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  <a:latin typeface="Microsoft YaHei"/>
              </a:defRPr>
            </a:pPr>
            <a:r>
              <a:t>02   no_std 空壳程序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2500000"/>
            <a:ext cx="8000" cy="35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5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  <a:latin typeface="Microsoft YaHei"/>
              </a:defRPr>
            </a:pPr>
            <a:r>
              <a:t>03   用 Syscall 手写 "Hello, OS!"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00" y="3200000"/>
            <a:ext cx="8000" cy="35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32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  <a:latin typeface="Microsoft YaHei"/>
              </a:defRPr>
            </a:pPr>
            <a:r>
              <a:t>04   迷你堆分配器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000" y="3900000"/>
            <a:ext cx="8000" cy="35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9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  <a:latin typeface="Microsoft YaHei"/>
              </a:defRPr>
            </a:pPr>
            <a:r>
              <a:t>05   Handle Table: 资源管理模式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000" y="4600000"/>
            <a:ext cx="8000" cy="35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4600000"/>
            <a:ext cx="10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  <a:latin typeface="Microsoft YaHei"/>
              </a:defRPr>
            </a:pPr>
            <a:r>
              <a:t>06   全景回顾与练习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000000"/>
            <a:ext cx="3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C9EFF"/>
                </a:solidFill>
                <a:latin typeface="Consolas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你的 Hello World 背后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一个 println 背后有多少 syscall?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0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演示: 在终端执行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500000"/>
            <a:ext cx="10800000" cy="12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000" y="165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$ strace ./hello 2&gt;&amp;1 | wc -l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47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$ strace ./hello 2&gt;&amp;1 | tail -3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write(1, "hello\n", 6)              = 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exit_group(0)                        =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000000"/>
            <a:ext cx="10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一个简单的 hello 程序, 背后有 47 个系统调用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mmap, mprotect, read, sigaction, brk ...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600" b="1">
                <a:solidFill>
                  <a:srgbClr val="FF796B"/>
                </a:solidFill>
                <a:latin typeface="Microsoft YaHei"/>
              </a:defRPr>
            </a:pPr>
            <a:r>
              <a:t>今天的目标: 写一个程序, strace 输出只有 2 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000000"/>
            <a:ext cx="3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C9EFF"/>
                </a:solidFill>
                <a:latin typeface="Consolas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no_std 空壳程序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Rust 的三层库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000000"/>
            <a:ext cx="5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core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零依赖, 纯计算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Option, Result, 原子操作, 基本类型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alloc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需要全局分配器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Vec, String, Box, Arc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std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依赖操作系统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文件, 网络, 线程, println!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0000" y="1200000"/>
            <a:ext cx="4800000" cy="12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00000" y="1350000"/>
            <a:ext cx="44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6C9EFF"/>
                </a:solidFill>
                <a:latin typeface="Consolas"/>
              </a:defRPr>
            </a:pPr>
            <a:r>
              <a:t>#![no_std] = 只用 core</a:t>
            </a:r>
            <a:br/>
            <a:r>
              <a:t>放弃 std 和 alloc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2800000"/>
            <a:ext cx="4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2C2C"/>
                </a:solidFill>
                <a:latin typeface="Microsoft YaHei"/>
              </a:defRPr>
            </a:pPr>
            <a:r>
              <a:t>使用场景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OS 内核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嵌入式 / IoT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Bootloader / 固件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WebAssembly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Live Coding: 从空文件到可运行程序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95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6C9EFF"/>
                </a:solidFill>
                <a:latin typeface="Microsoft YaHei"/>
              </a:defRPr>
            </a:pPr>
            <a:r>
              <a:t>Step 1</a:t>
            </a:r>
          </a:p>
          <a:p>
            <a:pPr>
              <a:spcAft>
                <a:spcPts val="600"/>
              </a:spcAft>
              <a:defRPr sz="1700">
                <a:solidFill>
                  <a:srgbClr val="2C2C2C"/>
                </a:solidFill>
                <a:latin typeface="Microsoft YaHei"/>
              </a:defRPr>
            </a:pPr>
            <a:r>
              <a:t>加 #![no_std] + #![no_main]</a:t>
            </a:r>
          </a:p>
          <a:p>
            <a:pPr>
              <a:spcAft>
                <a:spcPts val="600"/>
              </a:spcAft>
              <a:defRPr sz="1600" b="0">
                <a:solidFill>
                  <a:srgbClr val="FF796B"/>
                </a:solidFill>
                <a:latin typeface="Microsoft YaHei"/>
              </a:defRPr>
            </a:pPr>
            <a:r>
              <a:t>→ 报错: 缺 panic_handler</a:t>
            </a:r>
          </a:p>
          <a:p>
            <a:pPr>
              <a:spcAft>
                <a:spcPts val="600"/>
              </a:spcAft>
              <a:defRPr sz="17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6C9EFF"/>
                </a:solidFill>
                <a:latin typeface="Microsoft YaHei"/>
              </a:defRPr>
            </a:pPr>
            <a:r>
              <a:t>Step 2</a:t>
            </a:r>
          </a:p>
          <a:p>
            <a:pPr>
              <a:spcAft>
                <a:spcPts val="600"/>
              </a:spcAft>
              <a:defRPr sz="1700">
                <a:solidFill>
                  <a:srgbClr val="2C2C2C"/>
                </a:solidFill>
                <a:latin typeface="Microsoft YaHei"/>
              </a:defRPr>
            </a:pPr>
            <a:r>
              <a:t>加 #[panic_handler]</a:t>
            </a:r>
          </a:p>
          <a:p>
            <a:pPr>
              <a:spcAft>
                <a:spcPts val="600"/>
              </a:spcAft>
              <a:defRPr sz="1600" b="0">
                <a:solidFill>
                  <a:srgbClr val="FF796B"/>
                </a:solidFill>
                <a:latin typeface="Microsoft YaHei"/>
              </a:defRPr>
            </a:pPr>
            <a:r>
              <a:t>→ 报错: linker 找不到 _start</a:t>
            </a:r>
          </a:p>
          <a:p>
            <a:pPr>
              <a:spcAft>
                <a:spcPts val="600"/>
              </a:spcAft>
              <a:defRPr sz="17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6C9EFF"/>
                </a:solidFill>
                <a:latin typeface="Microsoft YaHei"/>
              </a:defRPr>
            </a:pPr>
            <a:r>
              <a:t>Step 3</a:t>
            </a:r>
          </a:p>
          <a:p>
            <a:pPr>
              <a:spcAft>
                <a:spcPts val="600"/>
              </a:spcAft>
              <a:defRPr sz="1700">
                <a:solidFill>
                  <a:srgbClr val="2C2C2C"/>
                </a:solidFill>
                <a:latin typeface="Microsoft YaHei"/>
              </a:defRPr>
            </a:pPr>
            <a:r>
              <a:t>加 _start + -nostartfiles</a:t>
            </a:r>
          </a:p>
          <a:p>
            <a:pPr>
              <a:spcAft>
                <a:spcPts val="600"/>
              </a:spcAft>
              <a:defRPr sz="1600" b="0">
                <a:solidFill>
                  <a:srgbClr val="A6E22E"/>
                </a:solidFill>
                <a:latin typeface="Microsoft YaHei"/>
              </a:defRPr>
            </a:pPr>
            <a:r>
              <a:t>→ 编译通过! 运行卡住 (死循环)</a:t>
            </a:r>
          </a:p>
          <a:p>
            <a:pPr>
              <a:spcAft>
                <a:spcPts val="600"/>
              </a:spcAft>
              <a:defRPr sz="17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每一步报错都在教你: std 帮你做了什么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00000" y="950000"/>
            <a:ext cx="5700000" cy="53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0000" y="11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#![no_std]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#![no_main]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use core::panic::PanicInfo;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#[panic_handler]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fn panic(_: &amp;PanicInfo) -&gt; !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loop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#[no_mangle]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pub extern "C" fn _start() -&gt; !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// 什么都不做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loop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// .cargo/config.toml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// [build]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// rustflags = ["-C",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//   "link-args=-nostartfiles"]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000000"/>
            <a:ext cx="3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C9EFF"/>
                </a:solidFill>
                <a:latin typeface="Consolas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用 Syscall 说 Hello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什么是系统调用?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000000"/>
            <a:ext cx="10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用户态程序不能直接操作硬件, 需要请求内核帮忙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2C2C2C"/>
                </a:solidFill>
                <a:latin typeface="Microsoft YaHei"/>
              </a:defRPr>
            </a:pPr>
            <a:r>
              <a:t>类比: 去政务大厅办事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填表 (寄存器放参数) → 交给窗口 (执行指令) → 拿回结果 (返回值)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2800000"/>
            <a:ext cx="10800000" cy="28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000" y="2950000"/>
            <a:ext cx="10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架构       触发指令      调用号寄存器    返回值    参数寄存器                  额外破坏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x86_64     syscall       rax           rax      rdi, rsi, rdx, r10, r8, r9   rcx, r11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aarch64    svc #0        x8            x0       x0, x1, x2, x3, x4, x5       无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riscv64    ecall         a7            a0       a0, a1, a2, a3, a4, a5       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580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aarch64 和 riscv64 共享 asm-generic 编号, x86_64 是历史遗留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Live Coding: 直接 asm! 发起 write + exit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950000"/>
            <a:ext cx="7200000" cy="51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100000"/>
            <a:ext cx="69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#[no_mangle]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pub extern "C" fn _start() -&gt; !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let msg = b"Hello, OS!\n";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unsafe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core::arch::asm!(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"syscall",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in("rax") 1usize,        // SYS_write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in("rdi") 1usize,        // fd = stdout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in("rsi") msg.as_ptr(),  // buf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in("rdx") msg.len(),     // len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out("rcx") _,            // clobbered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out("r11") _,            // clobbered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core::arch::asm!(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"syscall",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in("rax") 60usize,       // SYS_exit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in("rdi") 0usize,        // code = 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    options(noreturn),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0000" y="1200000"/>
            <a:ext cx="36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6DB74"/>
                </a:solidFill>
                <a:latin typeface="Consolas"/>
              </a:defRPr>
            </a:pPr>
            <a:r>
              <a:t>rax = 1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  <a:r>
              <a:t>write 系统调用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6DB74"/>
                </a:solidFill>
                <a:latin typeface="Consolas"/>
              </a:defRPr>
            </a:pPr>
            <a:r>
              <a:t>rdi = 1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  <a:r>
              <a:t>stdout 文件描述符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E6DB74"/>
                </a:solidFill>
                <a:latin typeface="Consolas"/>
              </a:defRPr>
            </a:pPr>
            <a:r>
              <a:t>out("rcx"), out("r11")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  <a:r>
              <a:t>CPU 硬件行为: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  <a:r>
              <a:t>rcx ← 返回地址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  <a:r>
              <a:t>r11 ← RFLAGS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  <a:r>
              <a:t>原值被覆盖, 必须声明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运行结果:</a:t>
            </a:r>
          </a:p>
          <a:p>
            <a:pPr>
              <a:spcAft>
                <a:spcPts val="600"/>
              </a:spcAft>
              <a:defRPr sz="2000" b="1">
                <a:solidFill>
                  <a:srgbClr val="A6E22E"/>
                </a:solidFill>
                <a:latin typeface="Consolas"/>
              </a:defRPr>
            </a:pPr>
            <a:r>
              <a:t>Hello, OS!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strace 验证: 只有 2 个 syscall!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1100000"/>
            <a:ext cx="10800000" cy="14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250000"/>
            <a:ext cx="105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F8F8F2"/>
                </a:solidFill>
                <a:latin typeface="Consolas"/>
              </a:defRPr>
            </a:pPr>
            <a:r>
              <a:t>$ strace ./target/debug/demo-nostd 2&gt;&amp;1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F8F8F2"/>
                </a:solidFill>
                <a:latin typeface="Consolas"/>
              </a:defRPr>
            </a:pPr>
            <a:r>
              <a:t>execve("./target/debug/demo-nostd", ...)  = 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F8F8F2"/>
                </a:solidFill>
                <a:latin typeface="Consolas"/>
              </a:defRPr>
            </a:pPr>
            <a:r>
              <a:t>write(1, "Hello, OS!\n", 11)             = 11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700">
                <a:solidFill>
                  <a:srgbClr val="F8F8F2"/>
                </a:solidFill>
                <a:latin typeface="Consolas"/>
              </a:defRPr>
            </a:pPr>
            <a:r>
              <a:t>exit(0)                                   =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900000"/>
            <a:ext cx="108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开场的承诺兑现了!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对比 println 版本 47 个 syscall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我们的程序: 零依赖, 零隐藏开销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F796B"/>
                </a:solidFill>
                <a:latin typeface="Microsoft YaHei"/>
              </a:defRPr>
            </a:pPr>
            <a:r>
              <a:t>小实验: 把 rax 改成 0 (SYS_read)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→ 没输出, 程序等待输入. syscall 编号错一个, 行为完全不同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重构: 封装通用 syscall3 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950000"/>
            <a:ext cx="5800000" cy="40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100000"/>
            <a:ext cx="5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unsafe fn syscall3(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id: usize,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arg0: usize, arg1: usize, arg2: usize,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) -&gt; isize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let ret: isize;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core::arch::asm!(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"syscall",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inlateout("rax") id =&gt; ret,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in("rdi") arg0,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in("rsi") arg1,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in("rdx") arg2,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out("rcx") _, out("r11") _,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ret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5100000"/>
            <a:ext cx="5800000" cy="12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525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fn sys_write(fd: usize, buf: &amp;[u8]) -&gt; isize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unsafe { syscall3(1, fd, buf.as_ptr() as usize, buf.len())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fn sys_exit(code: usize) -&gt; !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unsafe { syscall3(60, code, 0, 0); }  loop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950000"/>
            <a:ext cx="4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6DB74"/>
                </a:solidFill>
                <a:latin typeface="Consolas"/>
              </a:defRPr>
            </a:pPr>
            <a:r>
              <a:t>inlateout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rax 先放 syscall number (输入)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执行后变成返回值 (输出)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late = 输出覆盖输入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6C9EFF"/>
                </a:solidFill>
                <a:latin typeface="Microsoft YaHei"/>
              </a:defRPr>
            </a:pPr>
            <a:r>
              <a:t>上层封装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C2C2C"/>
                </a:solidFill>
                <a:latin typeface="Consolas"/>
              </a:defRPr>
            </a:pPr>
            <a:r>
              <a:t>sys_write(fd, buf)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  = syscall3(1, fd, ptr, len)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C2C2C"/>
                </a:solidFill>
                <a:latin typeface="Consolas"/>
              </a:defRPr>
            </a:pPr>
            <a:r>
              <a:t>sys_exit(code)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  = syscall3(60, code, 0, 0)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这就是 libc write() 和 _exit()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  <a:r>
              <a:t>的本质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其他架构怎么写?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00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riscv64</a:t>
            </a:r>
          </a:p>
          <a:p>
            <a:pPr>
              <a:spcAft>
                <a:spcPts val="600"/>
              </a:spcAft>
              <a:defRPr sz="1800" b="0">
                <a:solidFill>
                  <a:srgbClr val="2C2C2C"/>
                </a:solidFill>
                <a:latin typeface="Consolas"/>
              </a:defRPr>
            </a:pPr>
            <a:r>
              <a:t>  ecall  /  a7  /  a0-a5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  无额外破坏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aarch64</a:t>
            </a:r>
          </a:p>
          <a:p>
            <a:pPr>
              <a:spcAft>
                <a:spcPts val="600"/>
              </a:spcAft>
              <a:defRPr sz="1800" b="0">
                <a:solidFill>
                  <a:srgbClr val="2C2C2C"/>
                </a:solidFill>
                <a:latin typeface="Consolas"/>
              </a:defRPr>
            </a:pPr>
            <a:r>
              <a:t>  svc #0  /  x8  /  x0-x5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  无额外破坏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2C2C2C"/>
                </a:solidFill>
                <a:latin typeface="Microsoft YaHei"/>
              </a:defRPr>
            </a:pPr>
            <a:r>
              <a:t>共同点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aarch64 + riscv64 共享统一编号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x86_64 编号是历史遗留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000" y="1200000"/>
            <a:ext cx="5200000" cy="18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0000" y="13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F796B"/>
                </a:solidFill>
                <a:latin typeface="Microsoft YaHei"/>
              </a:defRPr>
            </a:pPr>
            <a:r>
              <a:t>练习要求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给三个架构都写 syscall3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填写 ABI 描述结构体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000000"/>
            <a:ext cx="3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C9EFF"/>
                </a:solidFill>
                <a:latin typeface="Consolas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迷你堆分配器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为什么需要堆分配器?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000000"/>
            <a:ext cx="10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6C9EFF"/>
                </a:solidFill>
                <a:latin typeface="Microsoft YaHei"/>
              </a:defRPr>
            </a:pPr>
            <a:r>
              <a:t>有 std 时</a:t>
            </a:r>
          </a:p>
          <a:p>
            <a:pPr>
              <a:spcAft>
                <a:spcPts val="600"/>
              </a:spcAft>
              <a:defRPr sz="1600" b="0">
                <a:solidFill>
                  <a:srgbClr val="2C2C2C"/>
                </a:solidFill>
                <a:latin typeface="Consolas"/>
              </a:defRPr>
            </a:pPr>
            <a:r>
              <a:t>format!("{}", 42) → String → malloc → brk/mmap → 内核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FF796B"/>
                </a:solidFill>
                <a:latin typeface="Microsoft YaHei"/>
              </a:defRPr>
            </a:pPr>
            <a:r>
              <a:t>no_std 时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没有 malloc. 你就是那个提供 malloc 的人.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分配器的本质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你有一块内存 (比如 128 字节)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有人来要 16 字节 → 切一块给他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记住哪些用了, 哪些没用</a:t>
            </a:r>
          </a:p>
          <a:p>
            <a:pPr>
              <a:spcAft>
                <a:spcPts val="600"/>
              </a:spcAft>
              <a:defRPr sz="2200" b="1">
                <a:solidFill>
                  <a:srgbClr val="6C9EFF"/>
                </a:solidFill>
                <a:latin typeface="Microsoft YaHei"/>
              </a:defRPr>
            </a:pPr>
            <a:r>
              <a:t>就这么简单.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Live Coding: Bump Allocator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950000"/>
            <a:ext cx="5800000" cy="32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100000"/>
            <a:ext cx="550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const HEAP_SIZE: usize = 128;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static mut HEAP: [u8; HEAP_SIZE] = [0; 128];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static mut OFFSET: usize = 0;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pub unsafe fn alloc(size: usize) -&gt; *mut u8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if OFFSET + size &gt; HEAP_SIZE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return core::ptr::null_mut();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let ptr = HEAP.as_mut_ptr().add(OFFSET);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OFFSET += size;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ptr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950000"/>
            <a:ext cx="48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6C9EFF"/>
                </a:solidFill>
                <a:latin typeface="Microsoft YaHei"/>
              </a:defRPr>
            </a:pPr>
            <a:r>
              <a:t>Bump Allocator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一个指针, 只往前走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A6E22E"/>
                </a:solidFill>
                <a:latin typeface="Microsoft YaHei"/>
              </a:defRPr>
            </a:pPr>
            <a:r>
              <a:t>优点: 极快, O(1)</a:t>
            </a:r>
          </a:p>
          <a:p>
            <a:pPr>
              <a:spcAft>
                <a:spcPts val="600"/>
              </a:spcAft>
              <a:defRPr sz="1800" b="0">
                <a:solidFill>
                  <a:srgbClr val="FF796B"/>
                </a:solidFill>
                <a:latin typeface="Microsoft YaHei"/>
              </a:defRPr>
            </a:pPr>
            <a:r>
              <a:t>缺点: 不能释放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场景: Bootloader, Arena,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短生命周期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4400000"/>
            <a:ext cx="10800000" cy="12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000" y="455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HEAP: [██ A ██|██ B ██|██ C ██|........ 空闲 ........]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                                  ↑ OFFSET (只往前走, 从不回头)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内存对齐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950000"/>
            <a:ext cx="10800000" cy="9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1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HEAP: [0  1  2 | 3  4  5  6 | 7 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^^^ 3B ^^^        ^^^ 4B, align=4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       ↑ offset=3, 需要跳到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100000"/>
            <a:ext cx="10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6C9EFF"/>
                </a:solidFill>
                <a:latin typeface="Consolas"/>
              </a:defRPr>
            </a:pPr>
            <a:r>
              <a:t>aligned = (offset + align - 1) &amp; !(align - 1)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C2C2C"/>
                </a:solidFill>
                <a:latin typeface="Microsoft YaHei"/>
              </a:defRPr>
            </a:pPr>
            <a:r>
              <a:t>align=4 → !(0b11) = 0b...11111100 → 清最低2位 → 向下取整</a:t>
            </a:r>
          </a:p>
          <a:p>
            <a:pPr>
              <a:spcAft>
                <a:spcPts val="600"/>
              </a:spcAft>
              <a:defRPr sz="1600" b="0">
                <a:solidFill>
                  <a:srgbClr val="2C2C2C"/>
                </a:solidFill>
                <a:latin typeface="Microsoft YaHei"/>
              </a:defRPr>
            </a:pPr>
            <a:r>
              <a:t>先加 align-1 → 变成向上取整.  例: 3+3=6, 6 &amp; !3 = 4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3600000"/>
            <a:ext cx="10800000" cy="24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000" y="3750000"/>
            <a:ext cx="105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pub unsafe fn alloc(size: usize, align: usize) -&gt; *mut u8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// 向上对齐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let aligned = (OFFSET + align - 1) &amp; !(align - 1);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if aligned + size &gt; HEAP_SIZE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    return core::ptr::null_mut();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let ptr = HEAP.as_mut_ptr().add(aligned);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OFFSET = aligned + size;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    ptr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灵魂拷问: 如果想 free 呢?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950000"/>
            <a:ext cx="10800000" cy="13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1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分配 A, B, C:     [██ A ██|██ B ██|██ C ██|.. 空闲 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释放 B:            [██ A ██|?? free ??|██ C ██|.. 空闲 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                            ↑ bump 不知道它空了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5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6C9EFF"/>
                </a:solidFill>
                <a:latin typeface="Microsoft YaHei"/>
              </a:defRPr>
            </a:pPr>
            <a:r>
              <a:t>Free-List Allocator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把释放的块串成链表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分配时先查链表, 有合适的就复用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C2C2C"/>
                </a:solidFill>
                <a:latin typeface="Microsoft YaHei"/>
              </a:defRPr>
            </a:pPr>
            <a:r>
              <a:t>侵入式链表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元数据存在空闲块自己里面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反正没人用, 存 next + size 不浪费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0" y="2500000"/>
            <a:ext cx="5000000" cy="14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00000" y="2600000"/>
            <a:ext cx="46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F796B"/>
                </a:solidFill>
                <a:latin typeface="Microsoft YaHei"/>
              </a:defRPr>
            </a:pPr>
            <a:r>
              <a:t>练习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02: Bump Allocator (GlobalAlloc)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03: Free-List Allocator (链表复用)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000000"/>
            <a:ext cx="3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C9EFF"/>
                </a:solidFill>
                <a:latin typeface="Consolas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Handle Table: 资源管理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文件描述符的本质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000000"/>
            <a:ext cx="10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C2C2C"/>
                </a:solidFill>
                <a:latin typeface="Microsoft YaHei"/>
              </a:defRPr>
            </a:pPr>
            <a:r>
              <a:t>sys_write(1, buf) 里的 1 是什么?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fd = 一个整数, 内核给用户的凭证.  0=stdin  1=stdout  2=stderr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2200000"/>
            <a:ext cx="5200000" cy="28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000" y="2350000"/>
            <a:ext cx="49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fd │ 内容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───┼──────────────────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0 │ Some(stdin)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1 │ Some(stdout)   ← write(1,...)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2 │ Some(stderr)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3 │ None           ← 空位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4 │ Some(log_file)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F8F8F2"/>
                </a:solidFill>
                <a:latin typeface="Consolas"/>
              </a:defRPr>
            </a:pPr>
            <a:r>
              <a:t>   5 │ 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0" y="2200000"/>
            <a:ext cx="54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6C9EFF"/>
                </a:solidFill>
                <a:latin typeface="Microsoft YaHei"/>
              </a:defRPr>
            </a:pPr>
            <a:r>
              <a:t>设计要点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索引就是 handle (凭证)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Some = 占用, None = 空位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open() 返回最小可用索引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  <a:r>
              <a:t>close() 置为 None → 可复用</a:t>
            </a:r>
          </a:p>
          <a:p>
            <a:pPr>
              <a:spcAft>
                <a:spcPts val="600"/>
              </a:spcAft>
              <a:defRPr sz="18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6C9EFF"/>
                </a:solidFill>
                <a:latin typeface="Microsoft YaHei"/>
              </a:defRPr>
            </a:pPr>
            <a:r>
              <a:t>一句话: 数组索引即凭证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Live Coding: 传感器管理器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950000"/>
            <a:ext cx="5800000" cy="42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1100000"/>
            <a:ext cx="55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struct SensorTable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slots: [Option&lt;&amp;'static str&gt;; 8],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impl SensorTable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fn register(&amp;mut self, name: &amp;'static str)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-&gt; Option&lt;usize&gt;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for (i, slot) 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    self.slots.iter_mut().enumerate()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    if slot.is_none()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        *slot = Some(name);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        return Some(i);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None // 满了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fn unregister(&amp;mut self, h: usize)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    self.slots[h] = None;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950000"/>
            <a:ext cx="4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6C9EFF"/>
                </a:solidFill>
                <a:latin typeface="Microsoft YaHei"/>
              </a:defRPr>
            </a:pPr>
            <a:r>
              <a:t>handle 复用演示</a:t>
            </a:r>
          </a:p>
          <a:p>
            <a:pPr>
              <a:spcAft>
                <a:spcPts val="600"/>
              </a:spcAft>
              <a:defRPr sz="1600">
                <a:solidFill>
                  <a:srgbClr val="2C2C2C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C2C2C"/>
                </a:solidFill>
                <a:latin typeface="Consolas"/>
              </a:defRPr>
            </a:pPr>
            <a:r>
              <a:t>register("温度")  → 0</a:t>
            </a:r>
          </a:p>
          <a:p>
            <a:pPr>
              <a:spcAft>
                <a:spcPts val="600"/>
              </a:spcAft>
              <a:defRPr sz="1500" b="0">
                <a:solidFill>
                  <a:srgbClr val="2C2C2C"/>
                </a:solidFill>
                <a:latin typeface="Consolas"/>
              </a:defRPr>
            </a:pPr>
            <a:r>
              <a:t>register("湿度")  → 1</a:t>
            </a:r>
          </a:p>
          <a:p>
            <a:pPr>
              <a:spcAft>
                <a:spcPts val="600"/>
              </a:spcAft>
              <a:defRPr sz="1500" b="0">
                <a:solidFill>
                  <a:srgbClr val="2C2C2C"/>
                </a:solidFill>
                <a:latin typeface="Consolas"/>
              </a:defRPr>
            </a:pPr>
            <a:r>
              <a:t>register("光照")  → 2</a:t>
            </a:r>
          </a:p>
          <a:p>
            <a:pPr>
              <a:spcAft>
                <a:spcPts val="600"/>
              </a:spcAft>
              <a:defRPr sz="1500" b="0">
                <a:solidFill>
                  <a:srgbClr val="2C2C2C"/>
                </a:solidFill>
                <a:latin typeface="Consolas"/>
              </a:defRPr>
            </a:pPr>
            <a:r>
              <a:t>unregister(1)</a:t>
            </a:r>
          </a:p>
          <a:p>
            <a:pPr>
              <a:spcAft>
                <a:spcPts val="600"/>
              </a:spcAft>
              <a:defRPr sz="1500" b="1">
                <a:solidFill>
                  <a:srgbClr val="A6E22E"/>
                </a:solidFill>
                <a:latin typeface="Consolas"/>
              </a:defRPr>
            </a:pPr>
            <a:r>
              <a:t>register("气压")  → 1  复用!</a:t>
            </a:r>
          </a:p>
        </p:txBody>
      </p:sp>
      <p:sp>
        <p:nvSpPr>
          <p:cNvPr id="8" name="Rectangle 7"/>
          <p:cNvSpPr/>
          <p:nvPr/>
        </p:nvSpPr>
        <p:spPr>
          <a:xfrm>
            <a:off x="6800000" y="3800000"/>
            <a:ext cx="4800000" cy="20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0" y="3900000"/>
            <a:ext cx="4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796B"/>
                </a:solidFill>
                <a:latin typeface="Microsoft YaHei"/>
              </a:defRPr>
            </a:pPr>
            <a:r>
              <a:t>练习 05 要求: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Vec&lt;Option&lt;Arc&lt;dyn File&gt;&gt;&gt;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Vec → 动态增长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Arc&lt;dyn File&gt; → 多态 + 引用计数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000000"/>
            <a:ext cx="3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6C9EFF"/>
                </a:solidFill>
                <a:latin typeface="Consolas"/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全景回顾与练习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println!("hello") 的完整调用链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0000" y="950000"/>
            <a:ext cx="9000000" cy="5300000"/>
          </a:xfrm>
          <a:prstGeom prst="rect">
            <a:avLst/>
          </a:prstGeom>
          <a:ln>
            <a:noFill/>
          </a:ln>
          <a:solidFill>
            <a:srgbClr val="1E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0000" y="1100000"/>
            <a:ext cx="87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你写的 Rust 程序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println!("hello")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std::io::Write                    ← 标准库封装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libc::write(1, buf, len)          ← C 库封装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syscall(SYS_WRITE, 1, buf, len)   ← 今天 Part 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───────┼────── 特权级切换 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内核: sys_write handler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fd_table[1] → stdout              ← 今天 Part 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        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600">
                <a:solidFill>
                  <a:srgbClr val="F8F8F2"/>
                </a:solidFill>
                <a:latin typeface="Consolas"/>
              </a:defRPr>
            </a:pPr>
            <a:r>
              <a:t>     设备驱动 → 终端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C2C2C"/>
                </a:solidFill>
                <a:latin typeface="Microsoft YaHei"/>
              </a:defRPr>
            </a:pPr>
            <a:r>
              <a:t>练习布置: 模块 02_no_std_dev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780000"/>
            <a:ext cx="3000000" cy="3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000" y="1000000"/>
            <a:ext cx="8000" cy="60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00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  <a:latin typeface="Consolas"/>
              </a:defRPr>
            </a:pPr>
            <a:r>
              <a:t>01  mem_primitives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14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手写 memcpy / memset / memmove / strlen / strcmp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2000000"/>
            <a:ext cx="8000" cy="60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200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  <a:latin typeface="Consolas"/>
              </a:defRPr>
            </a:pPr>
            <a:r>
              <a:t>02  bump_allocator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4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实现 GlobalAlloc trait, 原子操作保证线程安全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00" y="3000000"/>
            <a:ext cx="8000" cy="60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300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  <a:latin typeface="Consolas"/>
              </a:defRPr>
            </a:pPr>
            <a:r>
              <a:t>03  free_list_allocator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34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在 bump 基础上加释放和复用 (侵入式链表)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" y="4000000"/>
            <a:ext cx="8000" cy="60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000" y="400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  <a:latin typeface="Consolas"/>
              </a:defRPr>
            </a:pPr>
            <a:r>
              <a:t>04  syscall_wrapper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44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三个架构的 ABI 描述 + 真实 syscall3 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000" y="5000000"/>
            <a:ext cx="8000" cy="600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5000000"/>
            <a:ext cx="4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C2C2C"/>
                </a:solidFill>
                <a:latin typeface="Consolas"/>
              </a:defRPr>
            </a:pPr>
            <a:r>
              <a:t>05  fd_table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5400000"/>
            <a:ext cx="10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Vec&lt;Option&lt;Arc&lt;dyn File&gt;&gt;&gt; 完整文件描述符表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ln>
            <a:noFill/>
          </a:ln>
          <a:solidFill>
            <a:srgbClr val="6C9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2200000"/>
            <a:ext cx="100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Consolas"/>
              </a:defRPr>
            </a:pPr>
            <a:r>
              <a:t>Happy Hacking!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